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1A1A2E"/>
                </a:solidFill>
                <a:latin typeface="Arial"/>
              </a:rPr>
              <a:t>Distribution des Classes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76E-43C2-A04F-530A91B76764}"/>
              </c:ext>
            </c:extLst>
          </c:dPt>
          <c:dPt>
            <c:idx val="1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6E-43C2-A04F-530A91B7676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76E-43C2-A04F-530A91B7676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76E-43C2-A04F-530A91B7676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Légitimes (99.83%)</c:v>
                </c:pt>
                <c:pt idx="1">
                  <c:v>Fraudes (0.17%)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284315</c:v>
                </c:pt>
                <c:pt idx="1">
                  <c:v>492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6E-43C2-A04F-530A91B767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fr-FR"/>
        </a:p>
      </c:txPr>
    </c:legend>
    <c:plotVisOnly val="1"/>
    <c:dispBlanksAs val="span"/>
    <c:showDLblsOverMax val="1"/>
  </c:chart>
  <c:spPr>
    <a:solidFill>
      <a:srgbClr val="F8FAF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1A1A2E"/>
                </a:solidFill>
                <a:latin typeface="Arial"/>
              </a:rPr>
              <a:t>Comparaison des métriques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F1-macro</c:v>
                </c:pt>
                <c:pt idx="1">
                  <c:v>AUC-ROC</c:v>
                </c:pt>
                <c:pt idx="2">
                  <c:v>F1 Fraude</c:v>
                </c:pt>
                <c:pt idx="3">
                  <c:v>Rappel Fraude</c:v>
                </c:pt>
                <c:pt idx="4">
                  <c:v>Précision Fraude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0.93799999999999994</c:v>
                </c:pt>
                <c:pt idx="1">
                  <c:v>0.97199999999999998</c:v>
                </c:pt>
                <c:pt idx="2">
                  <c:v>0.878</c:v>
                </c:pt>
                <c:pt idx="3">
                  <c:v>0.91200000000000003</c:v>
                </c:pt>
                <c:pt idx="4">
                  <c:v>0.84699999999999998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43-49FC-B580-557DD8A94E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00BFA5"/>
            </a:solidFill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F1-macro</c:v>
                </c:pt>
                <c:pt idx="1">
                  <c:v>AUC-ROC</c:v>
                </c:pt>
                <c:pt idx="2">
                  <c:v>F1 Fraude</c:v>
                </c:pt>
                <c:pt idx="3">
                  <c:v>Rappel Fraude</c:v>
                </c:pt>
                <c:pt idx="4">
                  <c:v>Précision Fraude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0.96699999999999997</c:v>
                </c:pt>
                <c:pt idx="1">
                  <c:v>0.98499999999999999</c:v>
                </c:pt>
                <c:pt idx="2">
                  <c:v>0.93500000000000005</c:v>
                </c:pt>
                <c:pt idx="3">
                  <c:v>0.92100000000000004</c:v>
                </c:pt>
                <c:pt idx="4">
                  <c:v>0.94899999999999995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43-49FC-B580-557DD8A94E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fr-F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004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645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Détection Automatique de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11480" y="22128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FA5"/>
                </a:solidFill>
              </a:rPr>
              <a:t>Transactions Frauduleuses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11480" y="2907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BBFD4"/>
                </a:solidFill>
              </a:rPr>
              <a:t>Pipeline Machine Learning Robuste — Credit Card Fraud Detection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1480" y="3337560"/>
            <a:ext cx="320040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BFD4"/>
                </a:solidFill>
              </a:rPr>
              <a:t>📊  Kaggle Dataset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6032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BFD4"/>
                </a:solidFill>
              </a:rPr>
              <a:t>🔬  2 Modèles ML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0916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BFD4"/>
                </a:solidFill>
              </a:rPr>
              <a:t>⚙️  Pipeline sklearn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BFD4"/>
                </a:solidFill>
              </a:rPr>
              <a:t>📈  GridSearchCV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</a:rPr>
              <a:t>1 / 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5"/>
                </a:solidFill>
              </a:rPr>
              <a:t>01  PROBLÈME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</a:rPr>
              <a:t>Description du Problème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61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Contexte Métier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508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Les fraudes par carte bancaire représentent des pertes mondiales de +30 milliards $ par an. Les systèmes automatisés de détection sont essentiels pour les institutions financières.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42032"/>
            <a:ext cx="73152" cy="1188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569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Objectif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Concevoir un pipeline ML robuste, applicable en quasi-temps réel, maximisant le rappel sur les fraudes tout en limitant les faux positifs sur les transactions légitimes.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1704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46E7A"/>
                </a:solidFill>
              </a:rPr>
              <a:t>Défis Techniques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00200"/>
            <a:ext cx="347472" cy="3474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230368" y="15819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Déséquilibre Extrême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30368" y="1828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0.17% de fraudes sur 284 807 transactions — ratio 577:1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0" y="2514600"/>
            <a:ext cx="4023360" cy="9144"/>
          </a:xfrm>
          <a:prstGeom prst="rect">
            <a:avLst/>
          </a:prstGeom>
          <a:solidFill>
            <a:srgbClr val="E3EAF2"/>
          </a:solidFill>
          <a:ln w="12700">
            <a:solidFill>
              <a:srgbClr val="E3EAF2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715768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30368" y="2697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Contrainte Temps Réel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230368" y="294436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L'inférence doit être rapide (&lt;1ms/transaction) pour usage en production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754880" y="3630168"/>
            <a:ext cx="4023360" cy="9144"/>
          </a:xfrm>
          <a:prstGeom prst="rect">
            <a:avLst/>
          </a:prstGeom>
          <a:solidFill>
            <a:srgbClr val="E3EAF2"/>
          </a:solidFill>
          <a:ln w="12700">
            <a:solidFill>
              <a:srgbClr val="E3EAF2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31336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30368" y="38130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Compromis Précision/Rappel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230368" y="405993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Minimiser les fraudes manquées (FN) sans bloquer trop de légitimes (FP)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</a:rPr>
              <a:t>2 / 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5"/>
                </a:solidFill>
              </a:rPr>
              <a:t>02  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</a:rPr>
              <a:t>Description du Dataset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3840480" cy="292608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</a:rPr>
              <a:t>📥  Source : Kaggle — Credit Card Fraud Detection (ULB)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192024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664208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88E5"/>
                </a:solidFill>
              </a:rPr>
              <a:t>284,807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02336" y="219456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Transactions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2336" y="241401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A0B0C0"/>
                </a:solidFill>
              </a:rPr>
              <a:t>Sep 2013, 48h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68880" y="1572768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572768"/>
            <a:ext cx="192024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5456" y="1664208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53935"/>
                </a:solidFill>
              </a:rPr>
              <a:t>492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05456" y="219456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Fraudes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05456" y="241401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A0B0C0"/>
                </a:solidFill>
              </a:rPr>
              <a:t>0.172% du total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0" y="1572768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572768"/>
            <a:ext cx="192024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1664208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FA5"/>
                </a:solidFill>
              </a:rPr>
              <a:t>30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08576" y="219456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Features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08576" y="241401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A0B0C0"/>
                </a:solidFill>
              </a:rPr>
              <a:t>V1–V28 + Time + Amount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675120" y="1572768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5120" y="1572768"/>
            <a:ext cx="192024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11696" y="1664208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</a:rPr>
              <a:t>0 NaN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11696" y="219456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Valeurs nulles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11696" y="241401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A0B0C0"/>
                </a:solidFill>
              </a:rPr>
              <a:t>Dataset complet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5760" y="2816352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28712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Description des Features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" y="3163824"/>
            <a:ext cx="5084064" cy="356616"/>
          </a:xfrm>
          <a:prstGeom prst="rect">
            <a:avLst/>
          </a:prstGeom>
          <a:solidFill>
            <a:srgbClr val="F5F8FF"/>
          </a:solidFill>
          <a:ln w="6350">
            <a:solidFill>
              <a:srgbClr val="E8EF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2095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Time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554480" y="32095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Secondes écoulées depuis la 1ʳᵉ transaction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80560" y="320954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BFA5"/>
                </a:solidFill>
              </a:rPr>
              <a:t>Numérique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4048" y="3538728"/>
            <a:ext cx="5084064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584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V1 – V28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554480" y="3584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Composantes PCA anonymisées (données bancaires)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80560" y="358444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BFA5"/>
                </a:solidFill>
              </a:rPr>
              <a:t>Numérique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84048" y="3913632"/>
            <a:ext cx="5084064" cy="356616"/>
          </a:xfrm>
          <a:prstGeom prst="rect">
            <a:avLst/>
          </a:prstGeom>
          <a:solidFill>
            <a:srgbClr val="F5F8FF"/>
          </a:solidFill>
          <a:ln w="6350">
            <a:solidFill>
              <a:srgbClr val="E8EF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959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Amount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554480" y="3959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Montant de la transaction (€)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80560" y="395935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BFA5"/>
                </a:solidFill>
              </a:rPr>
              <a:t>Numérique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84048" y="4288536"/>
            <a:ext cx="5084064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43342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Class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554480" y="4334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0 = Légitime  |  1 = Fraude (cible)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480560" y="433425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BFA5"/>
                </a:solidFill>
              </a:rPr>
              <a:t>Binaire</a:t>
            </a:r>
            <a:endParaRPr lang="en-US" sz="850" dirty="0"/>
          </a:p>
        </p:txBody>
      </p:sp>
      <p:graphicFrame>
        <p:nvGraphicFramePr>
          <p:cNvPr id="45" name="Chart 0"/>
          <p:cNvGraphicFramePr/>
          <p:nvPr/>
        </p:nvGraphicFramePr>
        <p:xfrm>
          <a:off x="5623560" y="2788920"/>
          <a:ext cx="3200400" cy="2084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6" name="Text 4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</a:rPr>
              <a:t>3 / 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5"/>
                </a:solidFill>
              </a:rPr>
              <a:t>03 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Architecture du Pipeline ML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389888" cy="1234440"/>
          </a:xfrm>
          <a:prstGeom prst="rect">
            <a:avLst/>
          </a:prstGeom>
          <a:solidFill>
            <a:srgbClr val="162447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1389888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8562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Données Brutes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AACCEE"/>
                </a:solidFill>
              </a:rPr>
              <a:t>284 807 lignes × 31 col.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1755648" y="1943100"/>
            <a:ext cx="18288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solid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1984248" y="1325880"/>
            <a:ext cx="1389888" cy="1234440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984248" y="1325880"/>
            <a:ext cx="1389888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1463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29968" y="18562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ColumnTransformer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029968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AACCEE"/>
                </a:solidFill>
              </a:rPr>
              <a:t>RobustScaler + sin/cos(Time)</a:t>
            </a:r>
            <a:endParaRPr lang="en-US" sz="820" dirty="0"/>
          </a:p>
        </p:txBody>
      </p:sp>
      <p:sp>
        <p:nvSpPr>
          <p:cNvPr id="16" name="Shape 12"/>
          <p:cNvSpPr/>
          <p:nvPr/>
        </p:nvSpPr>
        <p:spPr>
          <a:xfrm>
            <a:off x="3419856" y="1943100"/>
            <a:ext cx="18288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solid"/>
            <a:tailEnd type="arrow"/>
          </a:ln>
        </p:spPr>
      </p:sp>
      <p:sp>
        <p:nvSpPr>
          <p:cNvPr id="17" name="Shape 13"/>
          <p:cNvSpPr/>
          <p:nvPr/>
        </p:nvSpPr>
        <p:spPr>
          <a:xfrm>
            <a:off x="3648456" y="1325880"/>
            <a:ext cx="1389888" cy="1234440"/>
          </a:xfrm>
          <a:prstGeom prst="rect">
            <a:avLst/>
          </a:prstGeom>
          <a:solidFill>
            <a:srgbClr val="00695C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48456" y="1325880"/>
            <a:ext cx="1389888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14630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94176" y="18562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SMOTE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69417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AACCEE"/>
                </a:solidFill>
              </a:rPr>
              <a:t>Oversampling minorité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AACCEE"/>
                </a:solidFill>
              </a:rPr>
              <a:t>(X_train uniquement)</a:t>
            </a:r>
            <a:endParaRPr lang="en-US" sz="820" dirty="0"/>
          </a:p>
        </p:txBody>
      </p:sp>
      <p:sp>
        <p:nvSpPr>
          <p:cNvPr id="22" name="Shape 17"/>
          <p:cNvSpPr/>
          <p:nvPr/>
        </p:nvSpPr>
        <p:spPr>
          <a:xfrm>
            <a:off x="5084064" y="1943100"/>
            <a:ext cx="18288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solid"/>
            <a:tailEnd type="arrow"/>
          </a:ln>
        </p:spPr>
      </p:sp>
      <p:sp>
        <p:nvSpPr>
          <p:cNvPr id="23" name="Shape 18"/>
          <p:cNvSpPr/>
          <p:nvPr/>
        </p:nvSpPr>
        <p:spPr>
          <a:xfrm>
            <a:off x="5312664" y="1325880"/>
            <a:ext cx="1389888" cy="1234440"/>
          </a:xfrm>
          <a:prstGeom prst="rect">
            <a:avLst/>
          </a:prstGeom>
          <a:solidFill>
            <a:srgbClr val="4A148C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312664" y="1325880"/>
            <a:ext cx="1389888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4728" y="14630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58384" y="18562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GridSearchCV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358384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AACCEE"/>
                </a:solidFill>
              </a:rPr>
              <a:t>StratifiedKFold k=5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AACCEE"/>
                </a:solidFill>
              </a:rPr>
              <a:t>scoring=f1_macro</a:t>
            </a:r>
            <a:endParaRPr lang="en-US" sz="820" dirty="0"/>
          </a:p>
        </p:txBody>
      </p:sp>
      <p:sp>
        <p:nvSpPr>
          <p:cNvPr id="28" name="Shape 22"/>
          <p:cNvSpPr/>
          <p:nvPr/>
        </p:nvSpPr>
        <p:spPr>
          <a:xfrm>
            <a:off x="6748272" y="1943100"/>
            <a:ext cx="18288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solid"/>
            <a:tailEnd type="arrow"/>
          </a:ln>
        </p:spPr>
      </p:sp>
      <p:sp>
        <p:nvSpPr>
          <p:cNvPr id="29" name="Shape 23"/>
          <p:cNvSpPr/>
          <p:nvPr/>
        </p:nvSpPr>
        <p:spPr>
          <a:xfrm>
            <a:off x="6976872" y="1325880"/>
            <a:ext cx="1389888" cy="1234440"/>
          </a:xfrm>
          <a:prstGeom prst="rect">
            <a:avLst/>
          </a:prstGeom>
          <a:solidFill>
            <a:srgbClr val="BF360C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976872" y="1325880"/>
            <a:ext cx="1389888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8936" y="146304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022592" y="18562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Classifieur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7022592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AACCEE"/>
                </a:solidFill>
              </a:rPr>
              <a:t>LR  ou  XGBoost</a:t>
            </a:r>
            <a:endParaRPr lang="en-US" sz="820" dirty="0"/>
          </a:p>
        </p:txBody>
      </p:sp>
      <p:sp>
        <p:nvSpPr>
          <p:cNvPr id="34" name="Shape 27"/>
          <p:cNvSpPr/>
          <p:nvPr/>
        </p:nvSpPr>
        <p:spPr>
          <a:xfrm>
            <a:off x="320040" y="269748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112244"/>
          </a:solidFill>
          <a:ln w="12700">
            <a:solidFill>
              <a:srgbClr val="244488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57200" y="272491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BBDD"/>
                </a:solidFill>
              </a:rPr>
              <a:t>⚠️  Règle Anti-Fuite  —  Toutes les transformations (fit) sont apprises exclusivement sur X_train.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8BBDD"/>
                </a:solidFill>
              </a:rPr>
              <a:t>Le SMOTE n'est activé que pendant le fit grâce à imblearn.Pipeline → X_test est intouché.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320040" y="3410712"/>
            <a:ext cx="2029968" cy="14173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411480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RobustScaler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411480" y="3712464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</a:rPr>
              <a:t>Résistant aux montants extrêmes (médiane + IQR au lieu de mean/std)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2514600" y="3410712"/>
            <a:ext cx="2029968" cy="14173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2606040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sin/cos(Time)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2606040" y="3712464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</a:rPr>
              <a:t>Encode la périodicité jour/nuit sans discontinuité (cycle 86 400s)</a:t>
            </a:r>
            <a:endParaRPr lang="en-US" sz="850" dirty="0"/>
          </a:p>
        </p:txBody>
      </p:sp>
      <p:sp>
        <p:nvSpPr>
          <p:cNvPr id="42" name="Shape 35"/>
          <p:cNvSpPr/>
          <p:nvPr/>
        </p:nvSpPr>
        <p:spPr>
          <a:xfrm>
            <a:off x="4709160" y="3410712"/>
            <a:ext cx="2029968" cy="14173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Text 36"/>
          <p:cNvSpPr/>
          <p:nvPr/>
        </p:nvSpPr>
        <p:spPr>
          <a:xfrm>
            <a:off x="4800600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SMOTE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4800600" y="3712464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</a:rPr>
              <a:t>sampling_strategy=0.1, k_neighbors=5 → fraudes = 10% des légitimes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6903720" y="3410712"/>
            <a:ext cx="2029968" cy="14173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6" name="Text 39"/>
          <p:cNvSpPr/>
          <p:nvPr/>
        </p:nvSpPr>
        <p:spPr>
          <a:xfrm>
            <a:off x="6995160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GridSearchCV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6995160" y="3712464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</a:rPr>
              <a:t>refit=True → rée ntraîne sur X_train complet avec les meilleurs params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</a:rPr>
              <a:t>4 / 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5"/>
                </a:solidFill>
              </a:rPr>
              <a:t>04  MODÈLES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</a:rPr>
              <a:t>Modèles Expérimentés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1148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298448"/>
            <a:ext cx="1325880" cy="246888"/>
          </a:xfrm>
          <a:prstGeom prst="roundRect">
            <a:avLst>
              <a:gd name="adj" fmla="val 14815"/>
            </a:avLst>
          </a:prstGeom>
          <a:solidFill>
            <a:srgbClr val="E8F0FE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29844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8E5"/>
                </a:solidFill>
              </a:rPr>
              <a:t>BASELINE</a:t>
            </a:r>
            <a:endParaRPr lang="en-US" sz="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6187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17190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Caractéristiques 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1975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546E7A"/>
                </a:solidFill>
              </a:rPr>
              <a:t>Modèle linéaire, rapide et interprétable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2295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546E7A"/>
                </a:solidFill>
              </a:rPr>
              <a:t>solver = lbfgs,  max_iter = 1000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48640" y="26151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546E7A"/>
                </a:solidFill>
              </a:rPr>
              <a:t>class_weight = 'balanced'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" y="2935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546E7A"/>
                </a:solidFill>
              </a:rPr>
              <a:t>Temps d'entraînement très court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8640" y="3291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Grille GridSearch :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3547872"/>
            <a:ext cx="3749040" cy="1051560"/>
          </a:xfrm>
          <a:prstGeom prst="roundRect">
            <a:avLst>
              <a:gd name="adj" fmla="val 5217"/>
            </a:avLst>
          </a:prstGeom>
          <a:solidFill>
            <a:srgbClr val="F5F8FF"/>
          </a:solidFill>
          <a:ln w="12700">
            <a:solidFill>
              <a:srgbClr val="E3EA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611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        :  [0.001, 0.01, 0.1, 1.0, 10.0]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85800" y="3904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    :  ['l2']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5800" y="41970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5 combinaisons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1188720"/>
            <a:ext cx="411480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78040" y="1298448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E0F2F1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78040" y="129844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897B"/>
                </a:solidFill>
              </a:rPr>
              <a:t>CHALLENGER</a:t>
            </a:r>
            <a:endParaRPr lang="en-US" sz="8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61872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21808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XGBoost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846320" y="17190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Caractéristiques :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846320" y="1975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546E7A"/>
                </a:solidFill>
              </a:rPr>
              <a:t>Gradient Boosting, très performant en tabular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846320" y="2295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546E7A"/>
                </a:solidFill>
              </a:rPr>
              <a:t>eval_metric = logloss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846320" y="26151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546E7A"/>
                </a:solidFill>
              </a:rPr>
              <a:t>n_jobs = -1  (parallélisme complet)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846320" y="2935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546E7A"/>
                </a:solidFill>
              </a:rPr>
              <a:t>Robuste aux relations non-linéaires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4846320" y="3291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Grille GridSearch :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846320" y="3547872"/>
            <a:ext cx="3749040" cy="1051560"/>
          </a:xfrm>
          <a:prstGeom prst="roundRect">
            <a:avLst>
              <a:gd name="adj" fmla="val 5217"/>
            </a:avLst>
          </a:prstGeom>
          <a:solidFill>
            <a:srgbClr val="F0FAF9"/>
          </a:solidFill>
          <a:ln w="12700">
            <a:solidFill>
              <a:srgbClr val="E3EAF2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983480" y="36118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   :  [100, 200]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983480" y="38496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      :  [3, 6]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983480" y="40873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  :  [0.05, 0.1]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4983480" y="43251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      :  [0.8, 1.0]    →  16 comb.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</a:rPr>
              <a:t>5 / 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5"/>
                </a:solidFill>
              </a:rPr>
              <a:t>05  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</a:rPr>
              <a:t>Résultats Obtenus — Jeu de Test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188720"/>
          <a:ext cx="5394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97880" y="1188720"/>
            <a:ext cx="2926080" cy="457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261872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36792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 XGBoost — Gagnant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897880" y="1737360"/>
            <a:ext cx="914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897880" y="1737360"/>
            <a:ext cx="91440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34456" y="1828800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FA5"/>
                </a:solidFill>
              </a:rPr>
              <a:t>0.967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934456" y="235915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F1-macro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885432" y="1737360"/>
            <a:ext cx="914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85432" y="1737360"/>
            <a:ext cx="9144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22008" y="1828800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88E5"/>
                </a:solidFill>
              </a:rPr>
              <a:t>0.985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922008" y="235915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AUC-ROC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872984" y="1737360"/>
            <a:ext cx="914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872984" y="1737360"/>
            <a:ext cx="91440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909560" y="1828800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7C00"/>
                </a:solidFill>
              </a:rPr>
              <a:t>92.1%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7909560" y="235915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Rappel Fraude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897880" y="2944368"/>
            <a:ext cx="2926080" cy="347472"/>
          </a:xfrm>
          <a:prstGeom prst="rect">
            <a:avLst/>
          </a:prstGeom>
          <a:solidFill>
            <a:srgbClr val="E3EAF2"/>
          </a:solidFill>
          <a:ln w="12700">
            <a:solidFill>
              <a:srgbClr val="D0DAE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8932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</a:rPr>
              <a:t>Logistic Regression (baseline)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97880" y="3364992"/>
            <a:ext cx="914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5897880" y="34015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46E7A"/>
                </a:solidFill>
              </a:rPr>
              <a:t>0.938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897880" y="3749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F1-macro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6885432" y="3364992"/>
            <a:ext cx="914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885432" y="34015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46E7A"/>
                </a:solidFill>
              </a:rPr>
              <a:t>0.972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6885432" y="3749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AUC-ROC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872984" y="3364992"/>
            <a:ext cx="914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7872984" y="34015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46E7A"/>
                </a:solidFill>
              </a:rPr>
              <a:t>91.2%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7872984" y="3749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Rappel Fraude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5897880" y="4160520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E0F7F4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989320" y="418795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</a:rPr>
              <a:t>XGBoost vs LR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+0.029 F1-macro  |  +0.013 AUC  |  +0.057 F1-fraude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</a:rPr>
              <a:t>6 / 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5"/>
                </a:solidFill>
              </a:rPr>
              <a:t>06  INTERPRÉTATION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</a:rPr>
              <a:t>Interprétation &amp; Pipeline Retenu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937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493776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Pourquoi XGBoost est le pipeline retenu 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642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Meilleur F1-macro (0.967 vs 0.938)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9110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Meilleur équilibre global entre précision et rappel sur les deux classes.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231136"/>
            <a:ext cx="4663440" cy="9144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AUC-ROC de 0.985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Discrimine quasi-parfaitement fraudes et légitimes sur toute la courbe ROC.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852928"/>
            <a:ext cx="4663440" cy="9144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077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9077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Capture les non-linéarités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154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Les relations entre features PCA anonymisées sont complexes ; XGBoost les modélise sans hypothèse linéaire.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474720"/>
            <a:ext cx="4663440" cy="9144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2958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⚖️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5295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Rappel Fraude élevé (92.1%)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7764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Seulement 7.9% de fraudes manquées (FN) — priorité métier respectée.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4096512"/>
            <a:ext cx="4663440" cy="9144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1513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1513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Inférence &lt; 1ms / transaction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3982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Modèle sérialisable (joblib) → déployable en API REST temps réel.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0" y="1207008"/>
            <a:ext cx="3291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1207008"/>
            <a:ext cx="3291840" cy="6400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96128" y="12984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Limitations de LR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96128" y="16093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935"/>
                </a:solidFill>
              </a:rPr>
              <a:t>✗  </a:t>
            </a:r>
            <a:r>
              <a:rPr lang="en-US" sz="950" dirty="0">
                <a:solidFill>
                  <a:srgbClr val="546E7A"/>
                </a:solidFill>
              </a:rPr>
              <a:t>Relations linéaires uniquement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96128" y="19019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935"/>
                </a:solidFill>
              </a:rPr>
              <a:t>✗  </a:t>
            </a:r>
            <a:r>
              <a:rPr lang="en-US" sz="950" dirty="0">
                <a:solidFill>
                  <a:srgbClr val="546E7A"/>
                </a:solidFill>
              </a:rPr>
              <a:t>F1-fraude limité à 0.878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96128" y="21945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935"/>
                </a:solidFill>
              </a:rPr>
              <a:t>✗  </a:t>
            </a:r>
            <a:r>
              <a:rPr lang="en-US" sz="950" dirty="0">
                <a:solidFill>
                  <a:srgbClr val="546E7A"/>
                </a:solidFill>
              </a:rPr>
              <a:t>Plus sensible au bruit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96128" y="24871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935"/>
                </a:solidFill>
              </a:rPr>
              <a:t>✗  </a:t>
            </a:r>
            <a:r>
              <a:rPr lang="en-US" sz="950" dirty="0">
                <a:solidFill>
                  <a:srgbClr val="546E7A"/>
                </a:solidFill>
              </a:rPr>
              <a:t>Moins adapté aux features PCA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0" y="2999232"/>
            <a:ext cx="329184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0" y="2999232"/>
            <a:ext cx="329184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96128" y="30906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Optimisations réalisées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96128" y="34015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546E7A"/>
                </a:solidFill>
              </a:rPr>
              <a:t>Seuil décision optimisé (≠ 0.5)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96128" y="36941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546E7A"/>
                </a:solidFill>
              </a:rPr>
              <a:t>SMOTE sampling_strategy = 0.1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96128" y="39867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546E7A"/>
                </a:solidFill>
              </a:rPr>
              <a:t>StratifiedKFold k=5 sur CV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96128" y="42793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546E7A"/>
                </a:solidFill>
              </a:rPr>
              <a:t>joblib.dump() pour production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</a:rPr>
              <a:t>7 / 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1480" y="25603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5"/>
                </a:solidFill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Bilan &amp; Axes d'Amélioration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029200" cy="2377440"/>
          </a:xfrm>
          <a:prstGeom prst="rect">
            <a:avLst/>
          </a:prstGeom>
          <a:solidFill>
            <a:srgbClr val="0D1B35"/>
          </a:solidFill>
          <a:ln w="12700">
            <a:solidFill>
              <a:srgbClr val="1E3A6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80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B0C8E0"/>
                </a:solidFill>
              </a:rPr>
              <a:t>Pipeline sklearn sans fuite de données (fit X_train uniquement)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B0C8E0"/>
                </a:solidFill>
              </a:rPr>
              <a:t>SMOTE intégré via imblearn.Pipeline → zéro contamination du test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1396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B0C8E0"/>
                </a:solidFill>
              </a:rPr>
              <a:t>GridSearchCV F1-macro, StratifiedKFold k=5 — sélection rigoureuse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5694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B0C8E0"/>
                </a:solidFill>
              </a:rPr>
              <a:t>XGBoost retenu : F1-macro=0.967, AUC=0.985, Rappel Fraude=92.1%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9992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✓  </a:t>
            </a:r>
            <a:r>
              <a:rPr lang="en-US" sz="950" dirty="0">
                <a:solidFill>
                  <a:srgbClr val="B0C8E0"/>
                </a:solidFill>
              </a:rPr>
              <a:t>Pipeline sérialisé (joblib) — prêt pour déploiement API REST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5029200" cy="22860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758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Axes d'amélioration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9136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0B8"/>
                </a:solidFill>
              </a:rPr>
              <a:t>→  SHAP / LIME pour l'explicabilité réglementaire (RGPD)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416966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0B8"/>
                </a:solidFill>
              </a:rPr>
              <a:t>→  Optuna Bayesian Optimization pour un tuning plus efficace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442569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0B8"/>
                </a:solidFill>
              </a:rPr>
              <a:t>→  Kafka + Flink pour ingestion streaming temps réel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77840" y="1188720"/>
            <a:ext cx="3246120" cy="3566160"/>
          </a:xfrm>
          <a:prstGeom prst="rect">
            <a:avLst/>
          </a:prstGeom>
          <a:solidFill>
            <a:srgbClr val="07112A"/>
          </a:solidFill>
          <a:ln w="2540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77840" y="1188720"/>
            <a:ext cx="324612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Pipeline Retenu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87568" y="16642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</a:rPr>
              <a:t>Prétraitement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03720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</a:rPr>
              <a:t>ColumnTransformer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</a:rPr>
              <a:t>RobustScaler + sin/cos(Time)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87568" y="2084832"/>
            <a:ext cx="2926080" cy="9144"/>
          </a:xfrm>
          <a:prstGeom prst="rect">
            <a:avLst/>
          </a:prstGeom>
          <a:solidFill>
            <a:srgbClr val="1E3A60"/>
          </a:solidFill>
          <a:ln w="12700">
            <a:solidFill>
              <a:srgbClr val="1E3A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87568" y="21579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</a:rPr>
              <a:t>Équilibrage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03720" y="21579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</a:rPr>
              <a:t>SMOTE (ratio 0.1, k=5)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87568" y="2578608"/>
            <a:ext cx="2926080" cy="9144"/>
          </a:xfrm>
          <a:prstGeom prst="rect">
            <a:avLst/>
          </a:prstGeom>
          <a:solidFill>
            <a:srgbClr val="1E3A60"/>
          </a:solidFill>
          <a:ln w="12700">
            <a:solidFill>
              <a:srgbClr val="1E3A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26517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</a:rPr>
              <a:t>Optimisation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0372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</a:rPr>
              <a:t>GridSearchCV (F1-macro)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87568" y="3072384"/>
            <a:ext cx="2926080" cy="9144"/>
          </a:xfrm>
          <a:prstGeom prst="rect">
            <a:avLst/>
          </a:prstGeom>
          <a:solidFill>
            <a:srgbClr val="1E3A60"/>
          </a:solidFill>
          <a:ln w="12700">
            <a:solidFill>
              <a:srgbClr val="1E3A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31455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</a:rPr>
              <a:t>Modèle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03720" y="31455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</a:rPr>
              <a:t>XGBoost ✓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87568" y="3566160"/>
            <a:ext cx="2926080" cy="9144"/>
          </a:xfrm>
          <a:prstGeom prst="rect">
            <a:avLst/>
          </a:prstGeom>
          <a:solidFill>
            <a:srgbClr val="1E3A60"/>
          </a:solidFill>
          <a:ln w="12700">
            <a:solidFill>
              <a:srgbClr val="1E3A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36393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</a:rPr>
              <a:t>Seuil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03720" y="3639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</a:rPr>
              <a:t>Optimisé (≠ 0.5 par défaut)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87568" y="4059936"/>
            <a:ext cx="2926080" cy="9144"/>
          </a:xfrm>
          <a:prstGeom prst="rect">
            <a:avLst/>
          </a:prstGeom>
          <a:solidFill>
            <a:srgbClr val="1E3A60"/>
          </a:solidFill>
          <a:ln w="12700">
            <a:solidFill>
              <a:srgbClr val="1E3A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87568" y="41330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</a:rPr>
              <a:t>Production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03720" y="4133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</a:rPr>
              <a:t>joblib.dump() → API REST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</a:rPr>
              <a:t>8 / 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914</Words>
  <Application>Microsoft Office PowerPoint</Application>
  <PresentationFormat>Affichage à l'écran (16:9)</PresentationFormat>
  <Paragraphs>186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Détection Automatique de Fraudes — Pipeline ML</dc:title>
  <dc:subject>PptxGenJS Presentation</dc:subject>
  <dc:creator>ML Engineering</dc:creator>
  <cp:lastModifiedBy>AYOUB CHARBAJI</cp:lastModifiedBy>
  <cp:revision>6</cp:revision>
  <dcterms:created xsi:type="dcterms:W3CDTF">2026-05-01T20:54:52Z</dcterms:created>
  <dcterms:modified xsi:type="dcterms:W3CDTF">2026-06-01T17:45:12Z</dcterms:modified>
</cp:coreProperties>
</file>